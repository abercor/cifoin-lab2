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handoutMasterIdLst>
    <p:handoutMasterId r:id="rId31"/>
  </p:handoutMasterIdLst>
  <p:sldIdLst>
    <p:sldId id="256" r:id="rId2"/>
    <p:sldId id="289" r:id="rId3"/>
    <p:sldId id="295" r:id="rId4"/>
    <p:sldId id="304" r:id="rId5"/>
    <p:sldId id="302" r:id="rId6"/>
    <p:sldId id="303" r:id="rId7"/>
    <p:sldId id="305" r:id="rId8"/>
    <p:sldId id="291" r:id="rId9"/>
    <p:sldId id="306" r:id="rId10"/>
    <p:sldId id="296" r:id="rId11"/>
    <p:sldId id="293" r:id="rId12"/>
    <p:sldId id="294" r:id="rId13"/>
    <p:sldId id="307" r:id="rId14"/>
    <p:sldId id="299" r:id="rId15"/>
    <p:sldId id="308" r:id="rId16"/>
    <p:sldId id="300" r:id="rId17"/>
    <p:sldId id="309" r:id="rId18"/>
    <p:sldId id="301" r:id="rId19"/>
    <p:sldId id="310" r:id="rId20"/>
    <p:sldId id="290" r:id="rId21"/>
    <p:sldId id="311" r:id="rId22"/>
    <p:sldId id="297" r:id="rId23"/>
    <p:sldId id="312" r:id="rId24"/>
    <p:sldId id="292" r:id="rId25"/>
    <p:sldId id="313" r:id="rId26"/>
    <p:sldId id="298" r:id="rId27"/>
    <p:sldId id="314" r:id="rId28"/>
    <p:sldId id="288" r:id="rId2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54" d="100"/>
          <a:sy n="54" d="100"/>
        </p:scale>
        <p:origin x="90" y="1230"/>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1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1.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sv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sv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sv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sv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Arnau Bernabeu Corbí</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407829" y="3793474"/>
            <a:ext cx="11199971" cy="289310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r>
              <a:rPr lang="es-ES" sz="1400" dirty="0"/>
              <a:t>Se ha simulado la sección transversal de un acoplador direccional de dos guías </a:t>
            </a:r>
            <a:r>
              <a:rPr lang="es-ES" sz="1400" dirty="0" err="1"/>
              <a:t>SiN</a:t>
            </a:r>
            <a:r>
              <a:rPr lang="es-ES" sz="1400" dirty="0"/>
              <a:t> paralelas (W = 1,2 </a:t>
            </a:r>
            <a:r>
              <a:rPr lang="es-ES" sz="1400" dirty="0" err="1"/>
              <a:t>μm</a:t>
            </a:r>
            <a:r>
              <a:rPr lang="es-ES" sz="1400" dirty="0"/>
              <a:t>, h = 300 nm, gap = 600 nm, grabado profundo) a λ = 1,55 </a:t>
            </a:r>
            <a:r>
              <a:rPr lang="es-ES" sz="1400" dirty="0" err="1"/>
              <a:t>μm</a:t>
            </a:r>
            <a:r>
              <a:rPr lang="es-ES" sz="1400" dirty="0"/>
              <a:t>. Los cuatro primeros modos obtenidos son: TE par/impar (modos 0 y 1) y TM par/impar (modos 2 y 3), verificados con .</a:t>
            </a:r>
            <a:r>
              <a:rPr lang="es-ES" sz="1400" dirty="0" err="1"/>
              <a:t>fraction_te</a:t>
            </a:r>
            <a:r>
              <a:rPr lang="es-ES" sz="1400" dirty="0"/>
              <a:t> y .</a:t>
            </a:r>
            <a:r>
              <a:rPr lang="es-ES" sz="1400" dirty="0" err="1"/>
              <a:t>fraction_tm</a:t>
            </a:r>
            <a:r>
              <a:rPr lang="es-ES" sz="1400" dirty="0"/>
              <a:t>. Los campos confirman la simetría esperada —lóbulos del mismo signo en los modos par y de signo opuesto en los impares—, siendo el batido entre estos el mecanismo de intercambio de potencia entre guías.</a:t>
            </a:r>
          </a:p>
          <a:p>
            <a:r>
              <a:rPr lang="es-ES" sz="1400" dirty="0"/>
              <a:t>Aplicando L_π = λ / [2·(</a:t>
            </a:r>
            <a:r>
              <a:rPr lang="es-ES" sz="1400" dirty="0" err="1"/>
              <a:t>n_par</a:t>
            </a:r>
            <a:r>
              <a:rPr lang="es-ES" sz="1400" dirty="0"/>
              <a:t> − </a:t>
            </a:r>
            <a:r>
              <a:rPr lang="es-ES" sz="1400" dirty="0" err="1"/>
              <a:t>n_impar</a:t>
            </a:r>
            <a:r>
              <a:rPr lang="es-ES" sz="1400" dirty="0"/>
              <a:t>)] se obtiene L_π(TE) = 93,84 </a:t>
            </a:r>
            <a:r>
              <a:rPr lang="es-ES" sz="1400" dirty="0" err="1"/>
              <a:t>μm</a:t>
            </a:r>
            <a:r>
              <a:rPr lang="es-ES" sz="1400" dirty="0"/>
              <a:t> y L_π(TM) = 52,26 </a:t>
            </a:r>
            <a:r>
              <a:rPr lang="es-ES" sz="1400" dirty="0" err="1"/>
              <a:t>μm</a:t>
            </a:r>
            <a:r>
              <a:rPr lang="es-ES" sz="1400" dirty="0"/>
              <a:t>, en concordancia con .</a:t>
            </a:r>
            <a:r>
              <a:rPr lang="es-ES" sz="1400" dirty="0" err="1"/>
              <a:t>coupling_length</a:t>
            </a:r>
            <a:r>
              <a:rPr lang="es-ES" sz="1400" dirty="0"/>
              <a:t>(). La diferencia entre ambos valores evidencia la birrefringencia del dispositivo: la TM, con menor confinamiento vertical y mayor solapamiento en el gap, acopla casi el doble de rápido que la TE, lo que impide un reparto 50:50 simultáneo para ambas polarizaciones.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85800" y="4342562"/>
            <a:ext cx="11199972" cy="200054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r>
              <a:rPr lang="es-ES" sz="1400" dirty="0"/>
              <a:t>La gráfica muestra el coeficiente de acoplamiento K en función de la longitud normalizada L/L_π para el acoplador direccional de </a:t>
            </a:r>
            <a:r>
              <a:rPr lang="es-ES" sz="1400" dirty="0" err="1"/>
              <a:t>SiN</a:t>
            </a:r>
            <a:r>
              <a:rPr lang="es-ES" sz="1400" dirty="0"/>
              <a:t> (W = 1,2 </a:t>
            </a:r>
            <a:r>
              <a:rPr lang="es-ES" sz="1400" dirty="0" err="1"/>
              <a:t>μm</a:t>
            </a:r>
            <a:r>
              <a:rPr lang="es-ES" sz="1400" dirty="0"/>
              <a:t>, gap = 0,6 </a:t>
            </a:r>
            <a:r>
              <a:rPr lang="es-ES" sz="1400" dirty="0" err="1"/>
              <a:t>μm</a:t>
            </a:r>
            <a:r>
              <a:rPr lang="es-ES" sz="1400" dirty="0"/>
              <a:t>, h = 300 nm) a λ = 1,55 </a:t>
            </a:r>
            <a:r>
              <a:rPr lang="es-ES" sz="1400" dirty="0" err="1"/>
              <a:t>μm</a:t>
            </a:r>
            <a:r>
              <a:rPr lang="es-ES" sz="1400" dirty="0"/>
              <a:t>, usando los valores obtenidos previamente: L_π(TE) = 93,84 </a:t>
            </a:r>
            <a:r>
              <a:rPr lang="es-ES" sz="1400" dirty="0" err="1"/>
              <a:t>μm</a:t>
            </a:r>
            <a:r>
              <a:rPr lang="es-ES" sz="1400" dirty="0"/>
              <a:t> y L_π(TM) = 52,26 </a:t>
            </a:r>
            <a:r>
              <a:rPr lang="es-ES" sz="1400" dirty="0" err="1"/>
              <a:t>μm</a:t>
            </a:r>
            <a:r>
              <a:rPr lang="es-ES" sz="1400" dirty="0"/>
              <a:t>.</a:t>
            </a:r>
          </a:p>
          <a:p>
            <a:r>
              <a:rPr lang="es-ES" sz="1400" dirty="0"/>
              <a:t>La curva sigue la expresión K = sin²(π/2 · L/L_π), de carácter periódico. La transferencia completa de potencia (estado </a:t>
            </a:r>
            <a:r>
              <a:rPr lang="es-ES" sz="1400" dirty="0" err="1"/>
              <a:t>cross</a:t>
            </a:r>
            <a:r>
              <a:rPr lang="es-ES" sz="1400" dirty="0"/>
              <a:t>, K = 1) se alcanza en L = L_π —es decir, a 93,84 </a:t>
            </a:r>
            <a:r>
              <a:rPr lang="es-ES" sz="1400" dirty="0" err="1"/>
              <a:t>μm</a:t>
            </a:r>
            <a:r>
              <a:rPr lang="es-ES" sz="1400" dirty="0"/>
              <a:t> para TE y 52,26 </a:t>
            </a:r>
            <a:r>
              <a:rPr lang="es-ES" sz="1400" dirty="0" err="1"/>
              <a:t>μm</a:t>
            </a:r>
            <a:r>
              <a:rPr lang="es-ES" sz="1400" dirty="0"/>
              <a:t> para TM—, mientras que el reparto 50:50 (K = 0,5) se produce a L = L_π/4, marcado por la línea verde discontinua. A L = 2·L_π la potencia retorna íntegramente a la guía de entrada (estado bar, K = 0), confirmando el comportamiento oscilatorio del intercambio de potencia entre modos par e impar.</a:t>
            </a:r>
          </a:p>
          <a:p>
            <a:r>
              <a:rPr lang="es-ES" sz="1400" dirty="0"/>
              <a:t>La diferencia entre polarizaciones —con la TM acoplando aproximadamente el doble de rápido que la TE— refleja nuevamente la birrefringencia del dispositivo, ya observada en el apartado anterior.</a:t>
            </a:r>
          </a:p>
        </p:txBody>
      </p:sp>
      <p:sp>
        <p:nvSpPr>
          <p:cNvPr id="7" name="Rectángulo 6">
            <a:extLst>
              <a:ext uri="{FF2B5EF4-FFF2-40B4-BE49-F238E27FC236}">
                <a16:creationId xmlns:a16="http://schemas.microsoft.com/office/drawing/2014/main" id="{21F754A5-65BC-14A3-5F55-75716FFA9027}"/>
              </a:ext>
            </a:extLst>
          </p:cNvPr>
          <p:cNvSpPr/>
          <p:nvPr/>
        </p:nvSpPr>
        <p:spPr>
          <a:xfrm>
            <a:off x="609441" y="1126362"/>
            <a:ext cx="11199971" cy="312191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06146B48-78EE-1674-2891-98C3F1F9C1DF}"/>
              </a:ext>
            </a:extLst>
          </p:cNvPr>
          <p:cNvPicPr>
            <a:picLocks noChangeAspect="1"/>
          </p:cNvPicPr>
          <p:nvPr/>
        </p:nvPicPr>
        <p:blipFill>
          <a:blip r:embed="rId5"/>
          <a:stretch>
            <a:fillRect/>
          </a:stretch>
        </p:blipFill>
        <p:spPr>
          <a:xfrm>
            <a:off x="3765901" y="1139605"/>
            <a:ext cx="5545739" cy="3059824"/>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pic>
        <p:nvPicPr>
          <p:cNvPr id="5" name="Imagen 4">
            <a:extLst>
              <a:ext uri="{FF2B5EF4-FFF2-40B4-BE49-F238E27FC236}">
                <a16:creationId xmlns:a16="http://schemas.microsoft.com/office/drawing/2014/main" id="{5A1B7049-C13C-F70D-1548-CE37A7324837}"/>
              </a:ext>
            </a:extLst>
          </p:cNvPr>
          <p:cNvPicPr>
            <a:picLocks noChangeAspect="1"/>
          </p:cNvPicPr>
          <p:nvPr/>
        </p:nvPicPr>
        <p:blipFill>
          <a:blip r:embed="rId4"/>
          <a:stretch>
            <a:fillRect/>
          </a:stretch>
        </p:blipFill>
        <p:spPr>
          <a:xfrm>
            <a:off x="669823" y="1823309"/>
            <a:ext cx="3622697" cy="1481138"/>
          </a:xfrm>
          <a:prstGeom prst="rect">
            <a:avLst/>
          </a:prstGeom>
        </p:spPr>
      </p:pic>
      <p:pic>
        <p:nvPicPr>
          <p:cNvPr id="6" name="Imagen 5">
            <a:extLst>
              <a:ext uri="{FF2B5EF4-FFF2-40B4-BE49-F238E27FC236}">
                <a16:creationId xmlns:a16="http://schemas.microsoft.com/office/drawing/2014/main" id="{3B7214FF-1650-D450-5B81-7272DA1AC3E4}"/>
              </a:ext>
            </a:extLst>
          </p:cNvPr>
          <p:cNvPicPr>
            <a:picLocks noChangeAspect="1"/>
          </p:cNvPicPr>
          <p:nvPr/>
        </p:nvPicPr>
        <p:blipFill>
          <a:blip r:embed="rId5"/>
          <a:stretch>
            <a:fillRect/>
          </a:stretch>
        </p:blipFill>
        <p:spPr>
          <a:xfrm>
            <a:off x="4352902" y="1973389"/>
            <a:ext cx="3272057" cy="1035963"/>
          </a:xfrm>
          <a:prstGeom prst="rect">
            <a:avLst/>
          </a:prstGeom>
        </p:spPr>
      </p:pic>
      <p:pic>
        <p:nvPicPr>
          <p:cNvPr id="9" name="Imagen 8">
            <a:extLst>
              <a:ext uri="{FF2B5EF4-FFF2-40B4-BE49-F238E27FC236}">
                <a16:creationId xmlns:a16="http://schemas.microsoft.com/office/drawing/2014/main" id="{620B8884-07AF-EFD7-EB4A-7DEAE65341CD}"/>
              </a:ext>
            </a:extLst>
          </p:cNvPr>
          <p:cNvPicPr>
            <a:picLocks noChangeAspect="1"/>
          </p:cNvPicPr>
          <p:nvPr/>
        </p:nvPicPr>
        <p:blipFill>
          <a:blip r:embed="rId6"/>
          <a:stretch>
            <a:fillRect/>
          </a:stretch>
        </p:blipFill>
        <p:spPr>
          <a:xfrm>
            <a:off x="7831884" y="2005842"/>
            <a:ext cx="3622697" cy="921343"/>
          </a:xfrm>
          <a:prstGeom prst="rect">
            <a:avLst/>
          </a:prstGeom>
        </p:spPr>
      </p:pic>
      <p:pic>
        <p:nvPicPr>
          <p:cNvPr id="11" name="Imagen 10">
            <a:extLst>
              <a:ext uri="{FF2B5EF4-FFF2-40B4-BE49-F238E27FC236}">
                <a16:creationId xmlns:a16="http://schemas.microsoft.com/office/drawing/2014/main" id="{833AEB14-40E1-EC0C-478A-555F931A9154}"/>
              </a:ext>
            </a:extLst>
          </p:cNvPr>
          <p:cNvPicPr>
            <a:picLocks noChangeAspect="1"/>
          </p:cNvPicPr>
          <p:nvPr/>
        </p:nvPicPr>
        <p:blipFill>
          <a:blip r:embed="rId7"/>
          <a:stretch>
            <a:fillRect/>
          </a:stretch>
        </p:blipFill>
        <p:spPr>
          <a:xfrm>
            <a:off x="1179190" y="3304385"/>
            <a:ext cx="3393999" cy="716380"/>
          </a:xfrm>
          <a:prstGeom prst="rect">
            <a:avLst/>
          </a:prstGeom>
        </p:spPr>
      </p:pic>
      <p:pic>
        <p:nvPicPr>
          <p:cNvPr id="12" name="Imagen 11">
            <a:extLst>
              <a:ext uri="{FF2B5EF4-FFF2-40B4-BE49-F238E27FC236}">
                <a16:creationId xmlns:a16="http://schemas.microsoft.com/office/drawing/2014/main" id="{BA7F3A6B-E0A9-D638-76F1-8908213F0163}"/>
              </a:ext>
            </a:extLst>
          </p:cNvPr>
          <p:cNvPicPr>
            <a:picLocks noChangeAspect="1"/>
          </p:cNvPicPr>
          <p:nvPr/>
        </p:nvPicPr>
        <p:blipFill>
          <a:blip r:embed="rId8"/>
          <a:stretch>
            <a:fillRect/>
          </a:stretch>
        </p:blipFill>
        <p:spPr>
          <a:xfrm>
            <a:off x="4611357" y="3304447"/>
            <a:ext cx="3667125" cy="678862"/>
          </a:xfrm>
          <a:prstGeom prst="rect">
            <a:avLst/>
          </a:prstGeom>
        </p:spPr>
      </p:pic>
      <p:pic>
        <p:nvPicPr>
          <p:cNvPr id="13" name="Imagen 12">
            <a:extLst>
              <a:ext uri="{FF2B5EF4-FFF2-40B4-BE49-F238E27FC236}">
                <a16:creationId xmlns:a16="http://schemas.microsoft.com/office/drawing/2014/main" id="{585B6B14-6484-A2DC-F71D-56FE4AF00E9E}"/>
              </a:ext>
            </a:extLst>
          </p:cNvPr>
          <p:cNvPicPr>
            <a:picLocks noChangeAspect="1"/>
          </p:cNvPicPr>
          <p:nvPr/>
        </p:nvPicPr>
        <p:blipFill>
          <a:blip r:embed="rId9"/>
          <a:stretch>
            <a:fillRect/>
          </a:stretch>
        </p:blipFill>
        <p:spPr>
          <a:xfrm>
            <a:off x="8500651" y="3350862"/>
            <a:ext cx="3179559" cy="539095"/>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E98CD3FC-A1E2-8EE0-D3D3-0C1C71DBF45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D98D701D-1296-FDAD-7854-60F35521A2BC}"/>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6" name="Marcador de texto 5">
            <a:extLst>
              <a:ext uri="{FF2B5EF4-FFF2-40B4-BE49-F238E27FC236}">
                <a16:creationId xmlns:a16="http://schemas.microsoft.com/office/drawing/2014/main" id="{A1EAB03D-80C8-904B-5798-1A6712BD5518}"/>
              </a:ext>
            </a:extLst>
          </p:cNvPr>
          <p:cNvSpPr txBox="1">
            <a:spLocks noGrp="1"/>
          </p:cNvSpPr>
          <p:nvPr>
            <p:ph type="body" idx="1"/>
          </p:nvPr>
        </p:nvSpPr>
        <p:spPr>
          <a:xfrm>
            <a:off x="609600" y="252563"/>
            <a:ext cx="10972800" cy="295465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r>
              <a:rPr lang="es-ES" sz="1400" dirty="0"/>
              <a:t>Se ha realizado un barrido del gap entre 0,2 y 1,2 </a:t>
            </a:r>
            <a:r>
              <a:rPr lang="es-ES" sz="1400" dirty="0" err="1"/>
              <a:t>μm</a:t>
            </a:r>
            <a:r>
              <a:rPr lang="es-ES" sz="1400" dirty="0"/>
              <a:t> (pasos de 0,2 </a:t>
            </a:r>
            <a:r>
              <a:rPr lang="es-ES" sz="1400" dirty="0" err="1"/>
              <a:t>μm</a:t>
            </a:r>
            <a:r>
              <a:rPr lang="es-ES" sz="1400" dirty="0"/>
              <a:t>) para la guía </a:t>
            </a:r>
            <a:r>
              <a:rPr lang="es-ES" sz="1400" dirty="0" err="1"/>
              <a:t>deep</a:t>
            </a:r>
            <a:r>
              <a:rPr lang="es-ES" sz="1400" dirty="0"/>
              <a:t> con W = 1,2 </a:t>
            </a:r>
            <a:r>
              <a:rPr lang="es-ES" sz="1400" dirty="0" err="1"/>
              <a:t>μm</a:t>
            </a:r>
            <a:r>
              <a:rPr lang="es-ES" sz="1400" dirty="0"/>
              <a:t>, h = 300 nm a λ = 1,55 </a:t>
            </a:r>
            <a:r>
              <a:rPr lang="es-ES" sz="1400" dirty="0" err="1"/>
              <a:t>μm</a:t>
            </a:r>
            <a:r>
              <a:rPr lang="es-ES" sz="1400" dirty="0"/>
              <a:t>, simulando mediante EME la propagación con L = L_π/2 (configuración 50:50) en cada caso. Los valores de longitud de batido obtenidos son: L_π(0,4 </a:t>
            </a:r>
            <a:r>
              <a:rPr lang="es-ES" sz="1400" dirty="0" err="1"/>
              <a:t>μm</a:t>
            </a:r>
            <a:r>
              <a:rPr lang="es-ES" sz="1400" dirty="0"/>
              <a:t>) = 50,11 </a:t>
            </a:r>
            <a:r>
              <a:rPr lang="es-ES" sz="1400" dirty="0" err="1"/>
              <a:t>μm</a:t>
            </a:r>
            <a:r>
              <a:rPr lang="es-ES" sz="1400" dirty="0"/>
              <a:t>, L_π(0,6 </a:t>
            </a:r>
            <a:r>
              <a:rPr lang="es-ES" sz="1400" dirty="0" err="1"/>
              <a:t>μm</a:t>
            </a:r>
            <a:r>
              <a:rPr lang="es-ES" sz="1400" dirty="0"/>
              <a:t>) = 94,03 </a:t>
            </a:r>
            <a:r>
              <a:rPr lang="es-ES" sz="1400" dirty="0" err="1"/>
              <a:t>μm</a:t>
            </a:r>
            <a:r>
              <a:rPr lang="es-ES" sz="1400" dirty="0"/>
              <a:t>, L_π(0,8 </a:t>
            </a:r>
            <a:r>
              <a:rPr lang="es-ES" sz="1400" dirty="0" err="1"/>
              <a:t>μm</a:t>
            </a:r>
            <a:r>
              <a:rPr lang="es-ES" sz="1400" dirty="0"/>
              <a:t>) = 173,96 </a:t>
            </a:r>
            <a:r>
              <a:rPr lang="es-ES" sz="1400" dirty="0" err="1"/>
              <a:t>μm</a:t>
            </a:r>
            <a:r>
              <a:rPr lang="es-ES" sz="1400" dirty="0"/>
              <a:t>, L_π(1,0 </a:t>
            </a:r>
            <a:r>
              <a:rPr lang="es-ES" sz="1400" dirty="0" err="1"/>
              <a:t>μm</a:t>
            </a:r>
            <a:r>
              <a:rPr lang="es-ES" sz="1400" dirty="0"/>
              <a:t>) = 318,88 </a:t>
            </a:r>
            <a:r>
              <a:rPr lang="es-ES" sz="1400" dirty="0" err="1"/>
              <a:t>μm</a:t>
            </a:r>
            <a:r>
              <a:rPr lang="es-ES" sz="1400" dirty="0"/>
              <a:t> y L_π(1,2 </a:t>
            </a:r>
            <a:r>
              <a:rPr lang="es-ES" sz="1400" dirty="0" err="1"/>
              <a:t>μm</a:t>
            </a:r>
            <a:r>
              <a:rPr lang="es-ES" sz="1400" dirty="0"/>
              <a:t>) = 580,43 </a:t>
            </a:r>
            <a:r>
              <a:rPr lang="es-ES" sz="1400" dirty="0" err="1"/>
              <a:t>μm</a:t>
            </a:r>
            <a:r>
              <a:rPr lang="es-ES" sz="1400" dirty="0"/>
              <a:t>.</a:t>
            </a:r>
          </a:p>
          <a:p>
            <a:endParaRPr lang="es-ES" sz="1400" dirty="0"/>
          </a:p>
          <a:p>
            <a:r>
              <a:rPr lang="es-ES" sz="1400" dirty="0"/>
              <a:t>Los resultados muestran que L_π crece de forma exponencial con el gap —multiplicándose por más de 11 al pasar de 0,4 a 1,2 </a:t>
            </a:r>
            <a:r>
              <a:rPr lang="es-ES" sz="1400" dirty="0" err="1"/>
              <a:t>μm</a:t>
            </a:r>
            <a:r>
              <a:rPr lang="es-ES" sz="1400" dirty="0"/>
              <a:t>— debido a que el solape evanescente entre guías decae exponencialmente con la separación, debilitando el batido modal y requiriendo distancias progresivamente mayores para transferir la misma potencia. La relación es por tanto inversa: cuanto mayor es el gap, menor es el coeficiente de acoplamiento κ por unidad de longitud y mayor la L_π resultante.</a:t>
            </a:r>
          </a:p>
          <a:p>
            <a:endParaRPr lang="es-ES" sz="1400" dirty="0"/>
          </a:p>
          <a:p>
            <a:r>
              <a:rPr lang="es-ES" sz="1400" dirty="0"/>
              <a:t>En todos los casos la salida presenta un reparto 50:50, lo que valida el dimensionado de la región de acoplamiento. Las pérdidas son despreciables porque la simulación EME ideal modela exclusivamente el batido modal, sin contemplar </a:t>
            </a:r>
            <a:r>
              <a:rPr lang="es-ES" sz="1400" dirty="0" err="1"/>
              <a:t>scattering</a:t>
            </a:r>
            <a:r>
              <a:rPr lang="es-ES" sz="1400" dirty="0"/>
              <a:t>, absorción ni pérdidas en las transiciones; en un dispositivo real estas contribuciones deberían tenerse en cuenta.</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7646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pic>
        <p:nvPicPr>
          <p:cNvPr id="11" name="Imagen 10">
            <a:extLst>
              <a:ext uri="{FF2B5EF4-FFF2-40B4-BE49-F238E27FC236}">
                <a16:creationId xmlns:a16="http://schemas.microsoft.com/office/drawing/2014/main" id="{D21CD134-98E8-63E5-E7A9-B9CF54E9F82C}"/>
              </a:ext>
            </a:extLst>
          </p:cNvPr>
          <p:cNvPicPr>
            <a:picLocks noChangeAspect="1"/>
          </p:cNvPicPr>
          <p:nvPr/>
        </p:nvPicPr>
        <p:blipFill>
          <a:blip r:embed="rId7"/>
          <a:stretch>
            <a:fillRect/>
          </a:stretch>
        </p:blipFill>
        <p:spPr>
          <a:xfrm>
            <a:off x="1386062" y="1411782"/>
            <a:ext cx="4084644" cy="3076575"/>
          </a:xfrm>
          <a:prstGeom prst="rect">
            <a:avLst/>
          </a:prstGeom>
        </p:spPr>
      </p:pic>
      <p:pic>
        <p:nvPicPr>
          <p:cNvPr id="13" name="Imagen 12">
            <a:extLst>
              <a:ext uri="{FF2B5EF4-FFF2-40B4-BE49-F238E27FC236}">
                <a16:creationId xmlns:a16="http://schemas.microsoft.com/office/drawing/2014/main" id="{764D406A-2037-E875-B954-A4788262BA53}"/>
              </a:ext>
            </a:extLst>
          </p:cNvPr>
          <p:cNvPicPr>
            <a:picLocks noChangeAspect="1"/>
          </p:cNvPicPr>
          <p:nvPr/>
        </p:nvPicPr>
        <p:blipFill>
          <a:blip r:embed="rId8"/>
          <a:stretch>
            <a:fillRect/>
          </a:stretch>
        </p:blipFill>
        <p:spPr>
          <a:xfrm>
            <a:off x="7111088" y="1333926"/>
            <a:ext cx="4091190" cy="3076575"/>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BBF75EDA-F7AE-D2A5-FCBA-DAF76A6FE7D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FDCF859-020E-2586-F3EA-877FA702DF96}"/>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6" name="Marcador de texto 5">
            <a:extLst>
              <a:ext uri="{FF2B5EF4-FFF2-40B4-BE49-F238E27FC236}">
                <a16:creationId xmlns:a16="http://schemas.microsoft.com/office/drawing/2014/main" id="{CA5F0FDF-2A95-453B-4ECA-AEB637FF2694}"/>
              </a:ext>
            </a:extLst>
          </p:cNvPr>
          <p:cNvSpPr txBox="1">
            <a:spLocks noGrp="1"/>
          </p:cNvSpPr>
          <p:nvPr>
            <p:ph type="body" idx="1"/>
          </p:nvPr>
        </p:nvSpPr>
        <p:spPr>
          <a:xfrm>
            <a:off x="595086" y="216277"/>
            <a:ext cx="10972800" cy="409342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r>
              <a:rPr lang="es-ES" sz="1400" dirty="0"/>
              <a:t>Se ha calculado K en función del gap para una longitud de propagación L = 10 mm, con W = 1,0 </a:t>
            </a:r>
            <a:r>
              <a:rPr lang="es-ES" sz="1400" dirty="0" err="1"/>
              <a:t>μm</a:t>
            </a:r>
            <a:r>
              <a:rPr lang="es-ES" sz="1400" dirty="0"/>
              <a:t>, λ = 1,55 </a:t>
            </a:r>
            <a:r>
              <a:rPr lang="es-ES" sz="1400" dirty="0" err="1"/>
              <a:t>μm</a:t>
            </a:r>
            <a:r>
              <a:rPr lang="es-ES" sz="1400" dirty="0"/>
              <a:t> y modo TE0. El gap mínimo para garantizar un acoplamiento despreciable (K &lt; 0,01, criterio de guías desacopladas) es de aproximadamente 4 </a:t>
            </a:r>
            <a:r>
              <a:rPr lang="es-ES" sz="1400" dirty="0" err="1"/>
              <a:t>μm</a:t>
            </a:r>
            <a:r>
              <a:rPr lang="es-ES" sz="1400" dirty="0"/>
              <a:t> para la configuración </a:t>
            </a:r>
            <a:r>
              <a:rPr lang="es-ES" sz="1400" dirty="0" err="1"/>
              <a:t>deep</a:t>
            </a:r>
            <a:r>
              <a:rPr lang="es-ES" sz="1400" dirty="0"/>
              <a:t> y 5 </a:t>
            </a:r>
            <a:r>
              <a:rPr lang="es-ES" sz="1400" dirty="0" err="1"/>
              <a:t>μm</a:t>
            </a:r>
            <a:r>
              <a:rPr lang="es-ES" sz="1400" dirty="0"/>
              <a:t> para la </a:t>
            </a:r>
            <a:r>
              <a:rPr lang="es-ES" sz="1400" dirty="0" err="1"/>
              <a:t>shallow</a:t>
            </a:r>
            <a:r>
              <a:rPr lang="es-ES" sz="1400" dirty="0"/>
              <a:t> (</a:t>
            </a:r>
            <a:r>
              <a:rPr lang="es-ES" sz="1400" dirty="0" err="1"/>
              <a:t>slab</a:t>
            </a:r>
            <a:r>
              <a:rPr lang="es-ES" sz="1400" dirty="0"/>
              <a:t> = 150 nm).</a:t>
            </a:r>
          </a:p>
          <a:p>
            <a:r>
              <a:rPr lang="es-ES" sz="1400" dirty="0"/>
              <a:t>Las oscilaciones visibles a gaps reducidos responden a que, en ese rango, L_π es mucho menor que la longitud del chip y la luz completa varios ciclos de batido a lo largo de los 10 mm, haciendo que K oscile entre 0 y 1 en función del número de L_π contenidos en L. Esta región carece de interés práctico.</a:t>
            </a:r>
          </a:p>
          <a:p>
            <a:r>
              <a:rPr lang="es-ES" sz="1400" dirty="0"/>
              <a:t>La principal conclusión es que la guía </a:t>
            </a:r>
            <a:r>
              <a:rPr lang="es-ES" sz="1400" dirty="0" err="1"/>
              <a:t>shallow</a:t>
            </a:r>
            <a:r>
              <a:rPr lang="es-ES" sz="1400" dirty="0"/>
              <a:t> requiere mayor separación entre guías para considerarlas desacopladas: el </a:t>
            </a:r>
            <a:r>
              <a:rPr lang="es-ES" sz="1400" dirty="0" err="1"/>
              <a:t>slab</a:t>
            </a:r>
            <a:r>
              <a:rPr lang="es-ES" sz="1400" dirty="0"/>
              <a:t> residual aumenta el solape evanescente y, con ello, el coeficiente κ por unidad de longitud, desplazando el umbral de desacoplamiento hacia gaps más grandes.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11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85800" y="3774468"/>
            <a:ext cx="11199971" cy="255454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r>
              <a:rPr lang="es-ES" sz="1400" dirty="0"/>
              <a:t>Se ha simulado la sección transversal de un MMI con W = 12 </a:t>
            </a:r>
            <a:r>
              <a:rPr lang="es-ES" sz="1400" dirty="0" err="1"/>
              <a:t>μm</a:t>
            </a:r>
            <a:r>
              <a:rPr lang="es-ES" sz="1400" dirty="0"/>
              <a:t>, h = 300 nm, configuración </a:t>
            </a:r>
            <a:r>
              <a:rPr lang="es-ES" sz="1400" dirty="0" err="1"/>
              <a:t>deep</a:t>
            </a:r>
            <a:r>
              <a:rPr lang="es-ES" sz="1400" dirty="0"/>
              <a:t> sobre SiO₂, a λ = 1,55 </a:t>
            </a:r>
            <a:r>
              <a:rPr lang="es-ES" sz="1400" dirty="0" err="1"/>
              <a:t>μm</a:t>
            </a:r>
            <a:r>
              <a:rPr lang="es-ES" sz="1400" dirty="0"/>
              <a:t>, obteniendo los 20 primeros modos. Mediante .</a:t>
            </a:r>
            <a:r>
              <a:rPr lang="es-ES" sz="1400" dirty="0" err="1"/>
              <a:t>fraction_te</a:t>
            </a:r>
            <a:r>
              <a:rPr lang="es-ES" sz="1400" dirty="0"/>
              <a:t> se han identificado los modos TE puros (fracción ≈ 1) y TM puros (fracción ≈ 0). Los campos confirman la estructura modal esperada: el modo 0 presenta un único lóbulo central (TE0), el modo 1 dos lóbulos de signo opuesto (TE1) y el modo 7 múltiples lóbulos alternados, característicos de un modo de orden elevado.</a:t>
            </a:r>
          </a:p>
          <a:p>
            <a:r>
              <a:rPr lang="es-ES" sz="1400" dirty="0"/>
              <a:t>Aplicando L_π = λ / [2·(n_eff,0 − n_eff,1)] se obtiene L_π = 219,41 </a:t>
            </a:r>
            <a:r>
              <a:rPr lang="es-ES" sz="1400" dirty="0" err="1"/>
              <a:t>μm</a:t>
            </a:r>
            <a:r>
              <a:rPr lang="es-ES" sz="1400" dirty="0"/>
              <a:t>, valor notablemente superior al del acoplador direccional. Esto se debe a que la mayor anchura del MMI (12 </a:t>
            </a:r>
            <a:r>
              <a:rPr lang="es-ES" sz="1400" dirty="0" err="1"/>
              <a:t>μm</a:t>
            </a:r>
            <a:r>
              <a:rPr lang="es-ES" sz="1400" dirty="0"/>
              <a:t>) provoca una casi degeneración entre los índices efectivos de los modos 0 y 1, reduciendo su diferencia y disparando L_π. La diferencia entre los </a:t>
            </a:r>
            <a:r>
              <a:rPr lang="es-ES" sz="1400" dirty="0" err="1"/>
              <a:t>n_eff</a:t>
            </a:r>
            <a:r>
              <a:rPr lang="es-ES" sz="1400" dirty="0"/>
              <a:t> de los modos TE y TM pone de manifiesto, además, la birrefringencia del MMI, originada por la asimetría vertical de la estructura </a:t>
            </a:r>
            <a:r>
              <a:rPr lang="es-ES" sz="1400" dirty="0" err="1"/>
              <a:t>guiante</a:t>
            </a:r>
            <a:r>
              <a:rPr lang="es-ES" sz="1400" dirty="0"/>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pic>
        <p:nvPicPr>
          <p:cNvPr id="9" name="Imagen 8">
            <a:extLst>
              <a:ext uri="{FF2B5EF4-FFF2-40B4-BE49-F238E27FC236}">
                <a16:creationId xmlns:a16="http://schemas.microsoft.com/office/drawing/2014/main" id="{88A46D41-92D1-53EC-9C9A-FF0E0BC811C3}"/>
              </a:ext>
            </a:extLst>
          </p:cNvPr>
          <p:cNvPicPr>
            <a:picLocks noChangeAspect="1"/>
          </p:cNvPicPr>
          <p:nvPr/>
        </p:nvPicPr>
        <p:blipFill>
          <a:blip r:embed="rId4"/>
          <a:stretch>
            <a:fillRect/>
          </a:stretch>
        </p:blipFill>
        <p:spPr>
          <a:xfrm>
            <a:off x="1028406" y="1982417"/>
            <a:ext cx="5381625" cy="2219325"/>
          </a:xfrm>
          <a:prstGeom prst="rect">
            <a:avLst/>
          </a:prstGeom>
        </p:spPr>
      </p:pic>
      <p:pic>
        <p:nvPicPr>
          <p:cNvPr id="11" name="Imagen 10">
            <a:extLst>
              <a:ext uri="{FF2B5EF4-FFF2-40B4-BE49-F238E27FC236}">
                <a16:creationId xmlns:a16="http://schemas.microsoft.com/office/drawing/2014/main" id="{260C992E-62A7-C9C7-82FB-0EABF820384D}"/>
              </a:ext>
            </a:extLst>
          </p:cNvPr>
          <p:cNvPicPr>
            <a:picLocks noChangeAspect="1"/>
          </p:cNvPicPr>
          <p:nvPr/>
        </p:nvPicPr>
        <p:blipFill>
          <a:blip r:embed="rId5"/>
          <a:stretch>
            <a:fillRect/>
          </a:stretch>
        </p:blipFill>
        <p:spPr>
          <a:xfrm>
            <a:off x="6413660" y="2039419"/>
            <a:ext cx="3077004" cy="2105319"/>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717E36-C827-5E85-186D-0B14D3910B5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08DE56A-BE1B-EFBF-4B71-C1DC1005F5C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Marcador de texto 5">
            <a:extLst>
              <a:ext uri="{FF2B5EF4-FFF2-40B4-BE49-F238E27FC236}">
                <a16:creationId xmlns:a16="http://schemas.microsoft.com/office/drawing/2014/main" id="{B5029729-ADF3-3B30-4FF9-83BE1DB82BD7}"/>
              </a:ext>
            </a:extLst>
          </p:cNvPr>
          <p:cNvSpPr txBox="1">
            <a:spLocks noGrp="1"/>
          </p:cNvSpPr>
          <p:nvPr>
            <p:ph type="body" idx="1"/>
          </p:nvPr>
        </p:nvSpPr>
        <p:spPr>
          <a:xfrm>
            <a:off x="609600" y="361672"/>
            <a:ext cx="10972800" cy="255454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r>
              <a:rPr lang="es-ES" sz="1400" dirty="0"/>
              <a:t>Se ha simulado un MMI 2×2 con W = 6,6 </a:t>
            </a:r>
            <a:r>
              <a:rPr lang="es-ES" sz="1400" dirty="0" err="1"/>
              <a:t>μm</a:t>
            </a:r>
            <a:r>
              <a:rPr lang="es-ES" sz="1400" dirty="0"/>
              <a:t> a λ = 1,55 </a:t>
            </a:r>
            <a:r>
              <a:rPr lang="es-ES" sz="1400" dirty="0" err="1"/>
              <a:t>μm</a:t>
            </a:r>
            <a:r>
              <a:rPr lang="es-ES" sz="1400" dirty="0"/>
              <a:t> en configuración de interferencia por pares (entradas/salidas en ±W/6, L = L_π/2). El L_π del cuerpo es de aproximadamente 69 </a:t>
            </a:r>
            <a:r>
              <a:rPr lang="es-ES" sz="1400" dirty="0" err="1"/>
              <a:t>μm</a:t>
            </a:r>
            <a:r>
              <a:rPr lang="es-ES" sz="1400" dirty="0"/>
              <a:t>, resultando en una longitud total del dispositivo de 34,52 </a:t>
            </a:r>
            <a:r>
              <a:rPr lang="es-ES" sz="1400" dirty="0" err="1"/>
              <a:t>μm</a:t>
            </a:r>
            <a:r>
              <a:rPr lang="es-ES" sz="1400" dirty="0"/>
              <a:t>. La simulación EME arroja un reparto de 51,5/48,5, prácticamente 50:50, con unas pérdidas de exceso de 0,42 dB atribuibles a las transiciones entre los puertos de acceso y la región multimodo.</a:t>
            </a:r>
          </a:p>
          <a:p>
            <a:r>
              <a:rPr lang="es-ES" sz="1400" dirty="0"/>
              <a:t>Comparado con el acoplador direccional —L_π(TE) ≈ 94 </a:t>
            </a:r>
            <a:r>
              <a:rPr lang="es-ES" sz="1400" dirty="0" err="1"/>
              <a:t>μm</a:t>
            </a:r>
            <a:r>
              <a:rPr lang="es-ES" sz="1400" dirty="0"/>
              <a:t>, longitud ≈ 47 </a:t>
            </a:r>
            <a:r>
              <a:rPr lang="es-ES" sz="1400" dirty="0" err="1"/>
              <a:t>μm</a:t>
            </a:r>
            <a:r>
              <a:rPr lang="es-ES" sz="1400" dirty="0"/>
              <a:t> para un reparto 50:50—, el MMI resulta más compacto y tolerante frente a imprecisiones de fabricación, aunque a costa de una pérdida de inserción algo mayor.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3194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7A040A0-E11E-C5E6-7638-C2FA0CBBEC28}"/>
              </a:ext>
            </a:extLst>
          </p:cNvPr>
          <p:cNvPicPr>
            <a:picLocks noChangeAspect="1"/>
          </p:cNvPicPr>
          <p:nvPr/>
        </p:nvPicPr>
        <p:blipFill>
          <a:blip r:embed="rId4"/>
          <a:stretch>
            <a:fillRect/>
          </a:stretch>
        </p:blipFill>
        <p:spPr>
          <a:xfrm>
            <a:off x="1219200" y="1605695"/>
            <a:ext cx="6696595" cy="2564055"/>
          </a:xfrm>
          <a:prstGeom prst="rect">
            <a:avLst/>
          </a:prstGeom>
        </p:spPr>
      </p:pic>
      <p:pic>
        <p:nvPicPr>
          <p:cNvPr id="9" name="Imagen 8">
            <a:extLst>
              <a:ext uri="{FF2B5EF4-FFF2-40B4-BE49-F238E27FC236}">
                <a16:creationId xmlns:a16="http://schemas.microsoft.com/office/drawing/2014/main" id="{C8871A65-F250-7BD0-121C-1D73251097A5}"/>
              </a:ext>
            </a:extLst>
          </p:cNvPr>
          <p:cNvPicPr>
            <a:picLocks noChangeAspect="1"/>
          </p:cNvPicPr>
          <p:nvPr/>
        </p:nvPicPr>
        <p:blipFill>
          <a:blip r:embed="rId5"/>
          <a:stretch>
            <a:fillRect/>
          </a:stretch>
        </p:blipFill>
        <p:spPr>
          <a:xfrm>
            <a:off x="8077200" y="1873168"/>
            <a:ext cx="3077004" cy="2029108"/>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C2D2CCAC-26CD-BA45-9C3A-B4941BD64B7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E3DDBC10-69BE-B385-B960-023B3290218C}"/>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6" name="Marcador de texto 5">
            <a:extLst>
              <a:ext uri="{FF2B5EF4-FFF2-40B4-BE49-F238E27FC236}">
                <a16:creationId xmlns:a16="http://schemas.microsoft.com/office/drawing/2014/main" id="{43D7D9E5-DAC3-2BB8-7377-826863CBAD4E}"/>
              </a:ext>
            </a:extLst>
          </p:cNvPr>
          <p:cNvSpPr txBox="1">
            <a:spLocks noGrp="1"/>
          </p:cNvSpPr>
          <p:nvPr>
            <p:ph type="body" idx="1"/>
          </p:nvPr>
        </p:nvSpPr>
        <p:spPr>
          <a:xfrm>
            <a:off x="609600" y="381000"/>
            <a:ext cx="10972800" cy="320087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r>
              <a:rPr lang="es-ES" sz="1400" dirty="0"/>
              <a:t>Se ha llevado a cabo una optimización manual del MMI 2×2 ajustando iterativamente la longitud (</a:t>
            </a:r>
            <a:r>
              <a:rPr lang="es-ES" sz="1400" dirty="0" err="1"/>
              <a:t>dL_MMI</a:t>
            </a:r>
            <a:r>
              <a:rPr lang="es-ES" sz="1400" dirty="0"/>
              <a:t>) y la posición de los puertos (</a:t>
            </a:r>
            <a:r>
              <a:rPr lang="es-ES" sz="1400" dirty="0" err="1"/>
              <a:t>dy</a:t>
            </a:r>
            <a:r>
              <a:rPr lang="es-ES" sz="1400" dirty="0"/>
              <a:t>), buscando un reparto simétrico con mínimas pérdidas. El diseño nominal (</a:t>
            </a:r>
            <a:r>
              <a:rPr lang="es-ES" sz="1400" dirty="0" err="1"/>
              <a:t>dy</a:t>
            </a:r>
            <a:r>
              <a:rPr lang="es-ES" sz="1400" dirty="0"/>
              <a:t> = 0, </a:t>
            </a:r>
            <a:r>
              <a:rPr lang="es-ES" sz="1400" dirty="0" err="1"/>
              <a:t>dL</a:t>
            </a:r>
            <a:r>
              <a:rPr lang="es-ES" sz="1400" dirty="0"/>
              <a:t> = 0) presenta 0,42 dB de pérdidas y un ratio [0,515, 0,485]. El barrido paramétrico revela el rol diferenciado de cada variable: </a:t>
            </a:r>
            <a:r>
              <a:rPr lang="es-ES" sz="1400" dirty="0" err="1"/>
              <a:t>dy</a:t>
            </a:r>
            <a:r>
              <a:rPr lang="es-ES" sz="1400" dirty="0"/>
              <a:t> afecta principalmente a las pérdidas —desplazar los puertos respecto a la posición ideal ±W/6 reduce el solape con la imagen propia—, mientras que </a:t>
            </a:r>
            <a:r>
              <a:rPr lang="es-ES" sz="1400" dirty="0" err="1"/>
              <a:t>dL_MMI</a:t>
            </a:r>
            <a:r>
              <a:rPr lang="es-ES" sz="1400" dirty="0"/>
              <a:t> actúa sobre el balance al modificar el plano en que se forma dicha imagen. Así, aumentar </a:t>
            </a:r>
            <a:r>
              <a:rPr lang="es-ES" sz="1400" dirty="0" err="1"/>
              <a:t>dy</a:t>
            </a:r>
            <a:r>
              <a:rPr lang="es-ES" sz="1400" dirty="0"/>
              <a:t> a 0,2 </a:t>
            </a:r>
            <a:r>
              <a:rPr lang="es-ES" sz="1400" dirty="0" err="1"/>
              <a:t>μm</a:t>
            </a:r>
            <a:r>
              <a:rPr lang="es-ES" sz="1400" dirty="0"/>
              <a:t> eleva las pérdidas a 0,79 dB sin mejorar el reparto, y acortar el MMI 2 </a:t>
            </a:r>
            <a:r>
              <a:rPr lang="es-ES" sz="1400" dirty="0" err="1"/>
              <a:t>μm</a:t>
            </a:r>
            <a:r>
              <a:rPr lang="es-ES" sz="1400" dirty="0"/>
              <a:t> (</a:t>
            </a:r>
            <a:r>
              <a:rPr lang="es-ES" sz="1400" dirty="0" err="1"/>
              <a:t>dL</a:t>
            </a:r>
            <a:r>
              <a:rPr lang="es-ES" sz="1400" dirty="0"/>
              <a:t> = −2) mejora el ratio a [0,495, 0,505] pero incrementa las pérdidas hasta 0,87 dB.</a:t>
            </a:r>
          </a:p>
          <a:p>
            <a:r>
              <a:rPr lang="es-ES" sz="1400" dirty="0"/>
              <a:t>La configuración óptima encontrada, </a:t>
            </a:r>
            <a:r>
              <a:rPr lang="es-ES" sz="1400" dirty="0" err="1"/>
              <a:t>dy</a:t>
            </a:r>
            <a:r>
              <a:rPr lang="es-ES" sz="1400" dirty="0"/>
              <a:t> = 0,1 </a:t>
            </a:r>
            <a:r>
              <a:rPr lang="es-ES" sz="1400" dirty="0" err="1"/>
              <a:t>μm</a:t>
            </a:r>
            <a:r>
              <a:rPr lang="es-ES" sz="1400" dirty="0"/>
              <a:t> y </a:t>
            </a:r>
            <a:r>
              <a:rPr lang="es-ES" sz="1400" dirty="0" err="1"/>
              <a:t>dL_MMI</a:t>
            </a:r>
            <a:r>
              <a:rPr lang="es-ES" sz="1400" dirty="0"/>
              <a:t> = −1 </a:t>
            </a:r>
            <a:r>
              <a:rPr lang="es-ES" sz="1400" dirty="0" err="1"/>
              <a:t>μm</a:t>
            </a:r>
            <a:r>
              <a:rPr lang="es-ES" sz="1400" dirty="0"/>
              <a:t>, combina ambos efectos logrando un reparto prácticamente simétrico [0,495, 0,505] con pérdidas de tan solo 0,51 dB, mejorando el balance del diseño nominal con un incremento marginal de pérdidas.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4058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F4F1A316-3BB1-0F19-7BEE-1BBBA3F4B9FA}"/>
              </a:ext>
            </a:extLst>
          </p:cNvPr>
          <p:cNvPicPr>
            <a:picLocks noChangeAspect="1"/>
          </p:cNvPicPr>
          <p:nvPr/>
        </p:nvPicPr>
        <p:blipFill>
          <a:blip r:embed="rId4"/>
          <a:stretch>
            <a:fillRect/>
          </a:stretch>
        </p:blipFill>
        <p:spPr>
          <a:xfrm>
            <a:off x="1143000" y="1633591"/>
            <a:ext cx="6030507" cy="2508264"/>
          </a:xfrm>
          <a:prstGeom prst="rect">
            <a:avLst/>
          </a:prstGeom>
        </p:spPr>
      </p:pic>
      <p:pic>
        <p:nvPicPr>
          <p:cNvPr id="9" name="Imagen 8">
            <a:extLst>
              <a:ext uri="{FF2B5EF4-FFF2-40B4-BE49-F238E27FC236}">
                <a16:creationId xmlns:a16="http://schemas.microsoft.com/office/drawing/2014/main" id="{380A3879-03E2-1FEF-1E66-CA493D178225}"/>
              </a:ext>
            </a:extLst>
          </p:cNvPr>
          <p:cNvPicPr>
            <a:picLocks noChangeAspect="1"/>
          </p:cNvPicPr>
          <p:nvPr/>
        </p:nvPicPr>
        <p:blipFill>
          <a:blip r:embed="rId5"/>
          <a:stretch>
            <a:fillRect/>
          </a:stretch>
        </p:blipFill>
        <p:spPr>
          <a:xfrm>
            <a:off x="7575328" y="1887458"/>
            <a:ext cx="3124636" cy="2000529"/>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F195066-A507-C9BB-5DE4-61C9E31267B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02B4E53E-4102-9126-8592-C50A2B0E4F63}"/>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6" name="Marcador de texto 5">
            <a:extLst>
              <a:ext uri="{FF2B5EF4-FFF2-40B4-BE49-F238E27FC236}">
                <a16:creationId xmlns:a16="http://schemas.microsoft.com/office/drawing/2014/main" id="{EF5B7948-A25A-9043-7061-DD15A9023924}"/>
              </a:ext>
            </a:extLst>
          </p:cNvPr>
          <p:cNvSpPr txBox="1">
            <a:spLocks noGrp="1"/>
          </p:cNvSpPr>
          <p:nvPr>
            <p:ph type="body" idx="1"/>
          </p:nvPr>
        </p:nvSpPr>
        <p:spPr>
          <a:xfrm>
            <a:off x="609600" y="381000"/>
            <a:ext cx="10972800" cy="357020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r>
              <a:rPr lang="es-ES" sz="1400" dirty="0"/>
              <a:t>Se ha incorporado un tercer parámetro de optimización respecto al paso anterior: la anchura de las guías de entrada/salida, controlada mediante </a:t>
            </a:r>
            <a:r>
              <a:rPr lang="es-ES" sz="1400" dirty="0" err="1"/>
              <a:t>wg_width_dw</a:t>
            </a:r>
            <a:r>
              <a:rPr lang="es-ES" sz="1400" dirty="0"/>
              <a:t>. Partiendo de los valores previos (</a:t>
            </a:r>
            <a:r>
              <a:rPr lang="es-ES" sz="1400" dirty="0" err="1"/>
              <a:t>dy</a:t>
            </a:r>
            <a:r>
              <a:rPr lang="es-ES" sz="1400" dirty="0"/>
              <a:t> = 0,1 </a:t>
            </a:r>
            <a:r>
              <a:rPr lang="es-ES" sz="1400" dirty="0" err="1"/>
              <a:t>μm</a:t>
            </a:r>
            <a:r>
              <a:rPr lang="es-ES" sz="1400" dirty="0"/>
              <a:t>, </a:t>
            </a:r>
            <a:r>
              <a:rPr lang="es-ES" sz="1400" dirty="0" err="1"/>
              <a:t>dL_MMI</a:t>
            </a:r>
            <a:r>
              <a:rPr lang="es-ES" sz="1400" dirty="0"/>
              <a:t> = −0,5 </a:t>
            </a:r>
            <a:r>
              <a:rPr lang="es-ES" sz="1400" dirty="0" err="1"/>
              <a:t>μm</a:t>
            </a:r>
            <a:r>
              <a:rPr lang="es-ES" sz="1400" dirty="0"/>
              <a:t>) y barriendo </a:t>
            </a:r>
            <a:r>
              <a:rPr lang="es-ES" sz="1400" dirty="0" err="1"/>
              <a:t>wg_width_dw</a:t>
            </a:r>
            <a:r>
              <a:rPr lang="es-ES" sz="1400" dirty="0"/>
              <a:t> entre 0,0 y 0,8 </a:t>
            </a:r>
            <a:r>
              <a:rPr lang="es-ES" sz="1400" dirty="0" err="1"/>
              <a:t>μm</a:t>
            </a:r>
            <a:r>
              <a:rPr lang="es-ES" sz="1400" dirty="0"/>
              <a:t>, las pérdidas decrecen monótonamente al ensanchar las guías: 0,51 dB (</a:t>
            </a:r>
            <a:r>
              <a:rPr lang="es-ES" sz="1400" dirty="0" err="1"/>
              <a:t>wg_dw</a:t>
            </a:r>
            <a:r>
              <a:rPr lang="es-ES" sz="1400" dirty="0"/>
              <a:t> = 0), 0,33 dB (0,2 </a:t>
            </a:r>
            <a:r>
              <a:rPr lang="es-ES" sz="1400" dirty="0" err="1"/>
              <a:t>μm</a:t>
            </a:r>
            <a:r>
              <a:rPr lang="es-ES" sz="1400" dirty="0"/>
              <a:t>), 0,22 dB (0,4 </a:t>
            </a:r>
            <a:r>
              <a:rPr lang="es-ES" sz="1400" dirty="0" err="1"/>
              <a:t>μm</a:t>
            </a:r>
            <a:r>
              <a:rPr lang="es-ES" sz="1400" dirty="0"/>
              <a:t>), 0,13 dB (0,6 </a:t>
            </a:r>
            <a:r>
              <a:rPr lang="es-ES" sz="1400" dirty="0" err="1"/>
              <a:t>μm</a:t>
            </a:r>
            <a:r>
              <a:rPr lang="es-ES" sz="1400" dirty="0"/>
              <a:t>) y 0,073 dB (0,8 </a:t>
            </a:r>
            <a:r>
              <a:rPr lang="es-ES" sz="1400" dirty="0" err="1"/>
              <a:t>μm</a:t>
            </a:r>
            <a:r>
              <a:rPr lang="es-ES" sz="1400" dirty="0"/>
              <a:t>), manteniendo en todos los casos un reparto prácticamente simétrico [0,509, 0,491]. Físicamente, guías de E/S más anchas mejoran el solape con la imagen propia formada a la salida del cuerpo multimodo, reduciendo las pérdidas de transición.</a:t>
            </a:r>
          </a:p>
          <a:p>
            <a:r>
              <a:rPr lang="es-ES" sz="1400" dirty="0"/>
              <a:t>La configuración óptima (</a:t>
            </a:r>
            <a:r>
              <a:rPr lang="es-ES" sz="1400" dirty="0" err="1"/>
              <a:t>wg_width_dw</a:t>
            </a:r>
            <a:r>
              <a:rPr lang="es-ES" sz="1400" dirty="0"/>
              <a:t> = 0,8 </a:t>
            </a:r>
            <a:r>
              <a:rPr lang="es-ES" sz="1400" dirty="0" err="1"/>
              <a:t>μm</a:t>
            </a:r>
            <a:r>
              <a:rPr lang="es-ES" sz="1400" dirty="0"/>
              <a:t>, </a:t>
            </a:r>
            <a:r>
              <a:rPr lang="es-ES" sz="1400" dirty="0" err="1"/>
              <a:t>dy</a:t>
            </a:r>
            <a:r>
              <a:rPr lang="es-ES" sz="1400" dirty="0"/>
              <a:t> = 0,1 </a:t>
            </a:r>
            <a:r>
              <a:rPr lang="es-ES" sz="1400" dirty="0" err="1"/>
              <a:t>μm</a:t>
            </a:r>
            <a:r>
              <a:rPr lang="es-ES" sz="1400" dirty="0"/>
              <a:t>, </a:t>
            </a:r>
            <a:r>
              <a:rPr lang="es-ES" sz="1400" dirty="0" err="1"/>
              <a:t>dL_MMI</a:t>
            </a:r>
            <a:r>
              <a:rPr lang="es-ES" sz="1400" dirty="0"/>
              <a:t> = −0,5 </a:t>
            </a:r>
            <a:r>
              <a:rPr lang="es-ES" sz="1400" dirty="0" err="1"/>
              <a:t>μm</a:t>
            </a:r>
            <a:r>
              <a:rPr lang="es-ES" sz="1400" dirty="0"/>
              <a:t>) cumple holgadamente el criterio de diseño (pérdidas &lt; 0,1 dB, ratio ≈ 50:50), reduciendo las pérdidas a una sexta parte respecto al diseño nominal (0,42 dB → 0,073 dB). Esto demuestra que la combinación adecuada de los tres parámetros mejora drásticamente el rendimiento del MMI sin necesidad de modificar la geometría del cuerpo multimodo.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3117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pic>
        <p:nvPicPr>
          <p:cNvPr id="5" name="Imagen 4">
            <a:extLst>
              <a:ext uri="{FF2B5EF4-FFF2-40B4-BE49-F238E27FC236}">
                <a16:creationId xmlns:a16="http://schemas.microsoft.com/office/drawing/2014/main" id="{1E92CEB8-1E26-03A6-A115-E906F99759F7}"/>
              </a:ext>
            </a:extLst>
          </p:cNvPr>
          <p:cNvPicPr>
            <a:picLocks noChangeAspect="1"/>
          </p:cNvPicPr>
          <p:nvPr/>
        </p:nvPicPr>
        <p:blipFill>
          <a:blip r:embed="rId4"/>
          <a:stretch>
            <a:fillRect/>
          </a:stretch>
        </p:blipFill>
        <p:spPr>
          <a:xfrm>
            <a:off x="3737437" y="1536213"/>
            <a:ext cx="4519613" cy="3111734"/>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C0F609AB-2B78-5D15-EAFF-D061215B2FE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A08D7943-C44A-F398-7B65-8088B383E839}"/>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6" name="Marcador de texto 5">
            <a:extLst>
              <a:ext uri="{FF2B5EF4-FFF2-40B4-BE49-F238E27FC236}">
                <a16:creationId xmlns:a16="http://schemas.microsoft.com/office/drawing/2014/main" id="{42D73A2E-0E5A-8A39-6B70-F9E94D6DBB70}"/>
              </a:ext>
            </a:extLst>
          </p:cNvPr>
          <p:cNvSpPr txBox="1">
            <a:spLocks noGrp="1"/>
          </p:cNvSpPr>
          <p:nvPr>
            <p:ph type="body" idx="1"/>
          </p:nvPr>
        </p:nvSpPr>
        <p:spPr>
          <a:xfrm>
            <a:off x="591457" y="533400"/>
            <a:ext cx="10972800" cy="298543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process for a 1x4 MMI Coupler.  </a:t>
            </a:r>
          </a:p>
          <a:p>
            <a:pPr algn="just"/>
            <a:endParaRPr lang="en-US" sz="1200" dirty="0">
              <a:latin typeface="Arial" panose="020B0604020202020204" pitchFamily="34" charset="0"/>
              <a:cs typeface="Arial" panose="020B0604020202020204" pitchFamily="34" charset="0"/>
            </a:endParaRPr>
          </a:p>
          <a:p>
            <a:r>
              <a:rPr lang="es-ES" sz="1400" dirty="0"/>
              <a:t>Se ha aplicado el mismo procedimiento del MMI 2×2 al diseño de un MMI 1×4, adaptando la geometría y la condición de interferencia. El cuerpo multimodo es de </a:t>
            </a:r>
            <a:r>
              <a:rPr lang="es-ES" sz="1400" dirty="0" err="1"/>
              <a:t>SiN</a:t>
            </a:r>
            <a:r>
              <a:rPr lang="es-ES" sz="1400" dirty="0"/>
              <a:t> </a:t>
            </a:r>
            <a:r>
              <a:rPr lang="es-ES" sz="1400" dirty="0" err="1"/>
              <a:t>deep-etched</a:t>
            </a:r>
            <a:r>
              <a:rPr lang="es-ES" sz="1400" dirty="0"/>
              <a:t> (h = 300 nm) con una anchura de W = 6,0 </a:t>
            </a:r>
            <a:r>
              <a:rPr lang="es-ES" sz="1400" dirty="0" err="1"/>
              <a:t>μm</a:t>
            </a:r>
            <a:r>
              <a:rPr lang="es-ES" sz="1400" dirty="0"/>
              <a:t>, elegida como compromiso entre compacidad y espacio suficiente para alojar las 4 salidas. Se han calculado 30 modos mediante </a:t>
            </a:r>
            <a:r>
              <a:rPr lang="es-ES" sz="1400" dirty="0" err="1"/>
              <a:t>find_all_modes</a:t>
            </a:r>
            <a:r>
              <a:rPr lang="es-ES" sz="1400" dirty="0"/>
              <a:t>() y L_π se ha obtenido con </a:t>
            </a:r>
            <a:r>
              <a:rPr lang="es-ES" sz="1400" dirty="0" err="1"/>
              <a:t>get_L_pi</a:t>
            </a:r>
            <a:r>
              <a:rPr lang="es-ES" sz="1400" dirty="0"/>
              <a:t>(). La configuración sigue el esquema de interferencia simétrica: entrada centrada, 4 salidas en (W/N)·[−3/2, −1/2, +1/2, +3/2] y longitud L_MMI = 3·L_π/(4·N).</a:t>
            </a:r>
          </a:p>
          <a:p>
            <a:r>
              <a:rPr lang="es-ES" sz="1400" dirty="0"/>
              <a:t>La simulación EME con L_MMI = 10,79 </a:t>
            </a:r>
            <a:r>
              <a:rPr lang="es-ES" sz="1400" dirty="0" err="1"/>
              <a:t>μm</a:t>
            </a:r>
            <a:r>
              <a:rPr lang="es-ES" sz="1400" dirty="0"/>
              <a:t> arroja un reparto [0,235, 0,265, 0,265, 0,235] con pérdidas de 0,39 dB. El resultado es prácticamente uniforme —desviación inferior al 3 % respecto al ideal de 0,25 por puerto—, con simetría preservada entre salidas. El ligero desbalance entre puertos centrales y externos podría corregirse ajustando </a:t>
            </a:r>
            <a:r>
              <a:rPr lang="es-ES" sz="1400" dirty="0" err="1"/>
              <a:t>wg_width_dw</a:t>
            </a:r>
            <a:r>
              <a:rPr lang="es-ES" sz="1400" dirty="0"/>
              <a:t> y </a:t>
            </a:r>
            <a:r>
              <a:rPr lang="es-ES" sz="1400" dirty="0" err="1"/>
              <a:t>dL_MMI</a:t>
            </a:r>
            <a:r>
              <a:rPr lang="es-ES" sz="1400" dirty="0"/>
              <a:t>, siguiendo la misma estrategia de optimización empleada en el MMI 2×2.</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273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2" name="Imagen 11">
            <a:extLst>
              <a:ext uri="{FF2B5EF4-FFF2-40B4-BE49-F238E27FC236}">
                <a16:creationId xmlns:a16="http://schemas.microsoft.com/office/drawing/2014/main" id="{B3A9160C-53ED-2932-69A4-86B905CE5627}"/>
              </a:ext>
            </a:extLst>
          </p:cNvPr>
          <p:cNvPicPr>
            <a:picLocks noChangeAspect="1"/>
          </p:cNvPicPr>
          <p:nvPr/>
        </p:nvPicPr>
        <p:blipFill>
          <a:blip r:embed="rId7"/>
          <a:stretch>
            <a:fillRect/>
          </a:stretch>
        </p:blipFill>
        <p:spPr>
          <a:xfrm>
            <a:off x="1055524" y="1693351"/>
            <a:ext cx="4419656" cy="2954820"/>
          </a:xfrm>
          <a:prstGeom prst="rect">
            <a:avLst/>
          </a:prstGeom>
        </p:spPr>
      </p:pic>
      <p:pic>
        <p:nvPicPr>
          <p:cNvPr id="14" name="Imagen 13">
            <a:extLst>
              <a:ext uri="{FF2B5EF4-FFF2-40B4-BE49-F238E27FC236}">
                <a16:creationId xmlns:a16="http://schemas.microsoft.com/office/drawing/2014/main" id="{090B7EA0-0FC3-0EAA-2091-83476B69A909}"/>
              </a:ext>
            </a:extLst>
          </p:cNvPr>
          <p:cNvPicPr>
            <a:picLocks noChangeAspect="1"/>
          </p:cNvPicPr>
          <p:nvPr/>
        </p:nvPicPr>
        <p:blipFill>
          <a:blip r:embed="rId8"/>
          <a:stretch>
            <a:fillRect/>
          </a:stretch>
        </p:blipFill>
        <p:spPr>
          <a:xfrm>
            <a:off x="7026761" y="1520808"/>
            <a:ext cx="4259843" cy="2847975"/>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8512E5A-ECD3-9158-6881-99305219301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C0656859-3161-A935-D73A-7FFBD5F101C4}"/>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6" name="Marcador de texto 5">
            <a:extLst>
              <a:ext uri="{FF2B5EF4-FFF2-40B4-BE49-F238E27FC236}">
                <a16:creationId xmlns:a16="http://schemas.microsoft.com/office/drawing/2014/main" id="{D0F8CF3B-B920-DBFC-F825-0C87B51EADA7}"/>
              </a:ext>
            </a:extLst>
          </p:cNvPr>
          <p:cNvSpPr txBox="1">
            <a:spLocks noGrp="1"/>
          </p:cNvSpPr>
          <p:nvPr>
            <p:ph type="body" idx="1"/>
          </p:nvPr>
        </p:nvSpPr>
        <p:spPr>
          <a:xfrm>
            <a:off x="598714" y="216277"/>
            <a:ext cx="10972800" cy="323165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r>
              <a:rPr lang="es-ES" sz="1400" dirty="0"/>
              <a:t>Se ha realizado un barrido del gap entre 0,2 y 2,4 </a:t>
            </a:r>
            <a:r>
              <a:rPr lang="es-ES" sz="1400" dirty="0" err="1"/>
              <a:t>μm</a:t>
            </a:r>
            <a:r>
              <a:rPr lang="es-ES" sz="1400" dirty="0"/>
              <a:t> para guías </a:t>
            </a:r>
            <a:r>
              <a:rPr lang="es-ES" sz="1400" dirty="0" err="1"/>
              <a:t>deep</a:t>
            </a:r>
            <a:r>
              <a:rPr lang="es-ES" sz="1400" dirty="0"/>
              <a:t> (</a:t>
            </a:r>
            <a:r>
              <a:rPr lang="es-ES" sz="1400" dirty="0" err="1"/>
              <a:t>slab</a:t>
            </a:r>
            <a:r>
              <a:rPr lang="es-ES" sz="1400" dirty="0"/>
              <a:t> = 0) y </a:t>
            </a:r>
            <a:r>
              <a:rPr lang="es-ES" sz="1400" dirty="0" err="1"/>
              <a:t>shallow</a:t>
            </a:r>
            <a:r>
              <a:rPr lang="es-ES" sz="1400" dirty="0"/>
              <a:t> (</a:t>
            </a:r>
            <a:r>
              <a:rPr lang="es-ES" sz="1400" dirty="0" err="1"/>
              <a:t>slab</a:t>
            </a:r>
            <a:r>
              <a:rPr lang="es-ES" sz="1400" dirty="0"/>
              <a:t> = 150 nm), con W = 1,0 </a:t>
            </a:r>
            <a:r>
              <a:rPr lang="es-ES" sz="1400" dirty="0" err="1"/>
              <a:t>μm</a:t>
            </a:r>
            <a:r>
              <a:rPr lang="es-ES" sz="1400" dirty="0"/>
              <a:t> a λ = 1,55 </a:t>
            </a:r>
            <a:r>
              <a:rPr lang="es-ES" sz="1400" dirty="0" err="1"/>
              <a:t>μm</a:t>
            </a:r>
            <a:r>
              <a:rPr lang="es-ES" sz="1400" dirty="0"/>
              <a:t>, calculando L_π para los modos TE y TM. Las cuatro curvas crecen exponencialmente con el gap —linealmente en escala logarítmica—, confirmando el decaimiento evanescente del campo.</a:t>
            </a:r>
          </a:p>
          <a:p>
            <a:r>
              <a:rPr lang="es-ES" sz="1400" dirty="0"/>
              <a:t>El resultado más relevante es la inversión del orden entre polarizaciones según la geometría: en configuración </a:t>
            </a:r>
            <a:r>
              <a:rPr lang="es-ES" sz="1400" dirty="0" err="1"/>
              <a:t>deep</a:t>
            </a:r>
            <a:r>
              <a:rPr lang="es-ES" sz="1400" dirty="0"/>
              <a:t>, L_π(TE) &gt; L_π(TM), ya que el campo </a:t>
            </a:r>
            <a:r>
              <a:rPr lang="es-ES" sz="1400" dirty="0" err="1"/>
              <a:t>Ey</a:t>
            </a:r>
            <a:r>
              <a:rPr lang="es-ES" sz="1400" dirty="0"/>
              <a:t> de la TM se extiende más hacia el gap; en configuración </a:t>
            </a:r>
            <a:r>
              <a:rPr lang="es-ES" sz="1400" dirty="0" err="1"/>
              <a:t>shallow</a:t>
            </a:r>
            <a:r>
              <a:rPr lang="es-ES" sz="1400" dirty="0"/>
              <a:t>, L_π(TM) &gt; L_π(TE), porque el </a:t>
            </a:r>
            <a:r>
              <a:rPr lang="es-ES" sz="1400" dirty="0" err="1"/>
              <a:t>slab</a:t>
            </a:r>
            <a:r>
              <a:rPr lang="es-ES" sz="1400" dirty="0"/>
              <a:t> residual conecta horizontalmente las guías y favorece el acoplamiento del campo Ex de la TE. Los puntos anómalos a gaps grandes corresponden a modos próximos al </a:t>
            </a:r>
            <a:r>
              <a:rPr lang="es-ES" sz="1400" dirty="0" err="1"/>
              <a:t>cut</a:t>
            </a:r>
            <a:r>
              <a:rPr lang="es-ES" sz="1400" dirty="0"/>
              <a:t>-off, donde el </a:t>
            </a:r>
            <a:r>
              <a:rPr lang="es-ES" sz="1400" dirty="0" err="1"/>
              <a:t>solver</a:t>
            </a:r>
            <a:r>
              <a:rPr lang="es-ES" sz="1400" dirty="0"/>
              <a:t> pierde precisión numérica.</a:t>
            </a:r>
          </a:p>
          <a:p>
            <a:r>
              <a:rPr lang="es-ES" sz="1400" dirty="0"/>
              <a:t>La conclusión es que la birrefringencia del acoplador depende fuertemente del tipo de guía: un diseño optimizado para una polarización en configuración </a:t>
            </a:r>
            <a:r>
              <a:rPr lang="es-ES" sz="1400" dirty="0" err="1"/>
              <a:t>deep</a:t>
            </a:r>
            <a:r>
              <a:rPr lang="es-ES" sz="1400" dirty="0"/>
              <a:t> no ofrece el mismo comportamiento en </a:t>
            </a:r>
            <a:r>
              <a:rPr lang="es-ES" sz="1400" dirty="0" err="1"/>
              <a:t>shallow</a:t>
            </a:r>
            <a:r>
              <a:rPr lang="es-ES" sz="1400" dirty="0"/>
              <a:t>, y viceversa.</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3291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7" name="Imagen 16">
            <a:extLst>
              <a:ext uri="{FF2B5EF4-FFF2-40B4-BE49-F238E27FC236}">
                <a16:creationId xmlns:a16="http://schemas.microsoft.com/office/drawing/2014/main" id="{A4D883C1-C622-FFE9-271E-AA886CCAD747}"/>
              </a:ext>
            </a:extLst>
          </p:cNvPr>
          <p:cNvPicPr>
            <a:picLocks noChangeAspect="1"/>
          </p:cNvPicPr>
          <p:nvPr/>
        </p:nvPicPr>
        <p:blipFill>
          <a:blip r:embed="rId7"/>
          <a:stretch>
            <a:fillRect/>
          </a:stretch>
        </p:blipFill>
        <p:spPr>
          <a:xfrm>
            <a:off x="1064889" y="1557659"/>
            <a:ext cx="4546635" cy="3110507"/>
          </a:xfrm>
          <a:prstGeom prst="rect">
            <a:avLst/>
          </a:prstGeom>
        </p:spPr>
      </p:pic>
      <p:pic>
        <p:nvPicPr>
          <p:cNvPr id="19" name="Imagen 18">
            <a:extLst>
              <a:ext uri="{FF2B5EF4-FFF2-40B4-BE49-F238E27FC236}">
                <a16:creationId xmlns:a16="http://schemas.microsoft.com/office/drawing/2014/main" id="{E37B1F9B-D4E8-D535-2188-7B0568014AA3}"/>
              </a:ext>
            </a:extLst>
          </p:cNvPr>
          <p:cNvPicPr>
            <a:picLocks noChangeAspect="1"/>
          </p:cNvPicPr>
          <p:nvPr/>
        </p:nvPicPr>
        <p:blipFill>
          <a:blip r:embed="rId8"/>
          <a:stretch>
            <a:fillRect/>
          </a:stretch>
        </p:blipFill>
        <p:spPr>
          <a:xfrm>
            <a:off x="7237604" y="1650619"/>
            <a:ext cx="3838157" cy="2595588"/>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9EBF4A07-1271-B3FC-1AEC-2EE301E75C0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A2AD92A0-CE0F-3CC1-0689-59F1FD274B6C}"/>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6" name="Marcador de texto 5">
            <a:extLst>
              <a:ext uri="{FF2B5EF4-FFF2-40B4-BE49-F238E27FC236}">
                <a16:creationId xmlns:a16="http://schemas.microsoft.com/office/drawing/2014/main" id="{181326FD-308E-2C47-D5D2-57B3357241AA}"/>
              </a:ext>
            </a:extLst>
          </p:cNvPr>
          <p:cNvSpPr txBox="1">
            <a:spLocks noGrp="1"/>
          </p:cNvSpPr>
          <p:nvPr>
            <p:ph type="body" idx="1"/>
          </p:nvPr>
        </p:nvSpPr>
        <p:spPr>
          <a:xfrm>
            <a:off x="584200" y="248934"/>
            <a:ext cx="10972800" cy="366254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400" dirty="0">
              <a:latin typeface="Arial" panose="020B0604020202020204" pitchFamily="34" charset="0"/>
              <a:cs typeface="Arial" panose="020B0604020202020204" pitchFamily="34" charset="0"/>
            </a:endParaRPr>
          </a:p>
          <a:p>
            <a:r>
              <a:rPr lang="es-ES" sz="1400" dirty="0"/>
              <a:t>Se ha barrido λ entre 1,5 y 1,7 </a:t>
            </a:r>
            <a:r>
              <a:rPr lang="es-ES" sz="1400" dirty="0" err="1"/>
              <a:t>μm</a:t>
            </a:r>
            <a:r>
              <a:rPr lang="es-ES" sz="1400" dirty="0"/>
              <a:t> con gap = 0,6 </a:t>
            </a:r>
            <a:r>
              <a:rPr lang="es-ES" sz="1400" dirty="0" err="1"/>
              <a:t>μm</a:t>
            </a:r>
            <a:r>
              <a:rPr lang="es-ES" sz="1400" dirty="0"/>
              <a:t> y W = 1,0 </a:t>
            </a:r>
            <a:r>
              <a:rPr lang="es-ES" sz="1400" dirty="0" err="1"/>
              <a:t>μm</a:t>
            </a:r>
            <a:r>
              <a:rPr lang="es-ES" sz="1400" dirty="0"/>
              <a:t>, calculando L_π para TE y TM en ambas configuraciones. En guía </a:t>
            </a:r>
            <a:r>
              <a:rPr lang="es-ES" sz="1400" dirty="0" err="1"/>
              <a:t>deep</a:t>
            </a:r>
            <a:r>
              <a:rPr lang="es-ES" sz="1400" dirty="0"/>
              <a:t>, las dos polarizaciones decrecen monótonamente con la longitud de onda (TE: 67 → 40 </a:t>
            </a:r>
            <a:r>
              <a:rPr lang="es-ES" sz="1400" dirty="0" err="1"/>
              <a:t>μm</a:t>
            </a:r>
            <a:r>
              <a:rPr lang="es-ES" sz="1400" dirty="0"/>
              <a:t>; TM: 41 → 31 </a:t>
            </a:r>
            <a:r>
              <a:rPr lang="es-ES" sz="1400" dirty="0" err="1"/>
              <a:t>μm</a:t>
            </a:r>
            <a:r>
              <a:rPr lang="es-ES" sz="1400" dirty="0"/>
              <a:t>), ya que al aumentar λ el modo se desconfina e incrementa el solape evanescente. Esto implica que un acoplador 50:50 diseñado a 1,55 </a:t>
            </a:r>
            <a:r>
              <a:rPr lang="es-ES" sz="1400" dirty="0" err="1"/>
              <a:t>μm</a:t>
            </a:r>
            <a:r>
              <a:rPr lang="es-ES" sz="1400" dirty="0"/>
              <a:t> sufrirá desbalance a longitudes de onda alejadas de este valor.</a:t>
            </a:r>
          </a:p>
          <a:p>
            <a:r>
              <a:rPr lang="es-ES" sz="1400" dirty="0"/>
              <a:t>En guía </a:t>
            </a:r>
            <a:r>
              <a:rPr lang="es-ES" sz="1400" dirty="0" err="1"/>
              <a:t>shallow</a:t>
            </a:r>
            <a:r>
              <a:rPr lang="es-ES" sz="1400" dirty="0"/>
              <a:t>, el comportamiento es cualitativamente distinto: la TE se mantiene prácticamente plana (~30–45 </a:t>
            </a:r>
            <a:r>
              <a:rPr lang="es-ES" sz="1400" dirty="0" err="1"/>
              <a:t>μm</a:t>
            </a:r>
            <a:r>
              <a:rPr lang="es-ES" sz="1400" dirty="0"/>
              <a:t>) a lo largo de todo el rango espectral, mientras que la TM presenta un mínimo en torno a 1,65 </a:t>
            </a:r>
            <a:r>
              <a:rPr lang="es-ES" sz="1400" dirty="0" err="1"/>
              <a:t>μm</a:t>
            </a:r>
            <a:r>
              <a:rPr lang="es-ES" sz="1400" dirty="0"/>
              <a:t> con valores notablemente elevados (400–850 </a:t>
            </a:r>
            <a:r>
              <a:rPr lang="es-ES" sz="1400" dirty="0" err="1"/>
              <a:t>μm</a:t>
            </a:r>
            <a:r>
              <a:rPr lang="es-ES" sz="1400" dirty="0"/>
              <a:t>), consecuencia de encontrarse próxima al </a:t>
            </a:r>
            <a:r>
              <a:rPr lang="es-ES" sz="1400" dirty="0" err="1"/>
              <a:t>cut</a:t>
            </a:r>
            <a:r>
              <a:rPr lang="es-ES" sz="1400" dirty="0"/>
              <a:t>-off.</a:t>
            </a:r>
          </a:p>
          <a:p>
            <a:r>
              <a:rPr lang="es-ES" sz="1400" dirty="0"/>
              <a:t>La conclusión es que la dependencia espectral depende críticamente de la geometría de la guía: la configuración </a:t>
            </a:r>
            <a:r>
              <a:rPr lang="es-ES" sz="1400" dirty="0" err="1"/>
              <a:t>shallow</a:t>
            </a:r>
            <a:r>
              <a:rPr lang="es-ES" sz="1400" dirty="0"/>
              <a:t> resulta atractiva para diseños de banda ancha en polarización TE, mientras que la </a:t>
            </a:r>
            <a:r>
              <a:rPr lang="es-ES" sz="1400" dirty="0" err="1"/>
              <a:t>deep</a:t>
            </a:r>
            <a:r>
              <a:rPr lang="es-ES" sz="1400" dirty="0"/>
              <a:t> ofrece un comportamiento más equilibrado entre polarizaciones, aunque con mayor variación absoluta de L_π a lo largo del espectro.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9430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2" name="Imagen 11">
            <a:extLst>
              <a:ext uri="{FF2B5EF4-FFF2-40B4-BE49-F238E27FC236}">
                <a16:creationId xmlns:a16="http://schemas.microsoft.com/office/drawing/2014/main" id="{2C01F6F4-CE04-6FED-3F1A-877272F26EEE}"/>
              </a:ext>
            </a:extLst>
          </p:cNvPr>
          <p:cNvPicPr>
            <a:picLocks noChangeAspect="1"/>
          </p:cNvPicPr>
          <p:nvPr/>
        </p:nvPicPr>
        <p:blipFill>
          <a:blip r:embed="rId7"/>
          <a:stretch>
            <a:fillRect/>
          </a:stretch>
        </p:blipFill>
        <p:spPr>
          <a:xfrm>
            <a:off x="1295400" y="1628460"/>
            <a:ext cx="3940128" cy="2695575"/>
          </a:xfrm>
          <a:prstGeom prst="rect">
            <a:avLst/>
          </a:prstGeom>
        </p:spPr>
      </p:pic>
      <p:pic>
        <p:nvPicPr>
          <p:cNvPr id="15" name="Imagen 14">
            <a:extLst>
              <a:ext uri="{FF2B5EF4-FFF2-40B4-BE49-F238E27FC236}">
                <a16:creationId xmlns:a16="http://schemas.microsoft.com/office/drawing/2014/main" id="{CE3D5A09-4112-B1E3-A47A-34BDD94EA586}"/>
              </a:ext>
            </a:extLst>
          </p:cNvPr>
          <p:cNvPicPr>
            <a:picLocks noChangeAspect="1"/>
          </p:cNvPicPr>
          <p:nvPr/>
        </p:nvPicPr>
        <p:blipFill>
          <a:blip r:embed="rId8"/>
          <a:stretch>
            <a:fillRect/>
          </a:stretch>
        </p:blipFill>
        <p:spPr>
          <a:xfrm>
            <a:off x="7217067" y="1698343"/>
            <a:ext cx="3768796" cy="2578361"/>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31DAC6E-C376-A776-F997-883100ADB28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F3EC7324-298F-D229-888E-9289620B805E}"/>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6" name="Marcador de texto 5">
            <a:extLst>
              <a:ext uri="{FF2B5EF4-FFF2-40B4-BE49-F238E27FC236}">
                <a16:creationId xmlns:a16="http://schemas.microsoft.com/office/drawing/2014/main" id="{82A62DD6-5488-72A1-9926-0CAEE59089A9}"/>
              </a:ext>
            </a:extLst>
          </p:cNvPr>
          <p:cNvSpPr txBox="1">
            <a:spLocks noGrp="1"/>
          </p:cNvSpPr>
          <p:nvPr>
            <p:ph type="body" idx="1"/>
          </p:nvPr>
        </p:nvSpPr>
        <p:spPr>
          <a:xfrm>
            <a:off x="609600" y="216277"/>
            <a:ext cx="10972800" cy="341632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r>
              <a:rPr lang="es-ES" sz="1400" dirty="0"/>
              <a:t>Se ha barrido λ entre 1,5 y 1,7 </a:t>
            </a:r>
            <a:r>
              <a:rPr lang="es-ES" sz="1400" dirty="0" err="1"/>
              <a:t>μm</a:t>
            </a:r>
            <a:r>
              <a:rPr lang="es-ES" sz="1400" dirty="0"/>
              <a:t> para un MMI con W = 6,6 </a:t>
            </a:r>
            <a:r>
              <a:rPr lang="es-ES" sz="1400" dirty="0" err="1"/>
              <a:t>μm</a:t>
            </a:r>
            <a:r>
              <a:rPr lang="es-ES" sz="1400" dirty="0"/>
              <a:t> en configuraciones </a:t>
            </a:r>
            <a:r>
              <a:rPr lang="es-ES" sz="1400" dirty="0" err="1"/>
              <a:t>deep</a:t>
            </a:r>
            <a:r>
              <a:rPr lang="es-ES" sz="1400" dirty="0"/>
              <a:t> y </a:t>
            </a:r>
            <a:r>
              <a:rPr lang="es-ES" sz="1400" dirty="0" err="1"/>
              <a:t>shallow</a:t>
            </a:r>
            <a:r>
              <a:rPr lang="es-ES" sz="1400" dirty="0"/>
              <a:t>. En ambos casos L_π decrece monótonamente con la longitud de onda: en </a:t>
            </a:r>
            <a:r>
              <a:rPr lang="es-ES" sz="1400" dirty="0" err="1"/>
              <a:t>deep</a:t>
            </a:r>
            <a:r>
              <a:rPr lang="es-ES" sz="1400" dirty="0"/>
              <a:t> pasa de 71,5 a 63,4 </a:t>
            </a:r>
            <a:r>
              <a:rPr lang="es-ES" sz="1400" dirty="0" err="1"/>
              <a:t>μm</a:t>
            </a:r>
            <a:r>
              <a:rPr lang="es-ES" sz="1400" dirty="0"/>
              <a:t> (≈11 % de variación) y en </a:t>
            </a:r>
            <a:r>
              <a:rPr lang="es-ES" sz="1400" dirty="0" err="1"/>
              <a:t>shallow</a:t>
            </a:r>
            <a:r>
              <a:rPr lang="es-ES" sz="1400" dirty="0"/>
              <a:t> de 77 a 69 </a:t>
            </a:r>
            <a:r>
              <a:rPr lang="es-ES" sz="1400" dirty="0" err="1"/>
              <a:t>μm</a:t>
            </a:r>
            <a:r>
              <a:rPr lang="es-ES" sz="1400" dirty="0"/>
              <a:t> (≈10 %), con una pendiente prácticamente lineal y casi idéntica entre ambas geometrías.</a:t>
            </a:r>
          </a:p>
          <a:p>
            <a:r>
              <a:rPr lang="es-ES" sz="1400" dirty="0"/>
              <a:t>Frente al acoplador direccional del ejercicio anterior —donde la TE </a:t>
            </a:r>
            <a:r>
              <a:rPr lang="es-ES" sz="1400" dirty="0" err="1"/>
              <a:t>deep</a:t>
            </a:r>
            <a:r>
              <a:rPr lang="es-ES" sz="1400" dirty="0"/>
              <a:t> variaba de 67 a 40 </a:t>
            </a:r>
            <a:r>
              <a:rPr lang="es-ES" sz="1400" dirty="0" err="1"/>
              <a:t>μm</a:t>
            </a:r>
            <a:r>
              <a:rPr lang="es-ES" sz="1400" dirty="0"/>
              <a:t> (≈40 %) y el comportamiento difería notablemente entre </a:t>
            </a:r>
            <a:r>
              <a:rPr lang="es-ES" sz="1400" dirty="0" err="1"/>
              <a:t>deep</a:t>
            </a:r>
            <a:r>
              <a:rPr lang="es-ES" sz="1400" dirty="0"/>
              <a:t> y </a:t>
            </a:r>
            <a:r>
              <a:rPr lang="es-ES" sz="1400" dirty="0" err="1"/>
              <a:t>shallow</a:t>
            </a:r>
            <a:r>
              <a:rPr lang="es-ES" sz="1400" dirty="0"/>
              <a:t>—, el MMI presenta una dependencia espectral significativamente más suave e independiente de la configuración. La razón es que en el MMI, L_π viene determinada únicamente por los dos primeros modos del cuerpo multimodo, cuyos índices efectivos son poco sensibles a λ, mientras que en el acoplador direccional depende del solape evanescente entre guías, que varía considerablemente al desconfinarse el modo.</a:t>
            </a:r>
          </a:p>
          <a:p>
            <a:r>
              <a:rPr lang="es-ES" sz="1400" dirty="0"/>
              <a:t>La conclusión es que el MMI es preferible para aplicaciones de banda ancha, dado que mantiene un reparto estable a lo largo del espectro, mientras que el acoplador direccional se desbalancea al alejarse de la longitud de onda de diseño.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5955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2" name="Imagen 11">
            <a:extLst>
              <a:ext uri="{FF2B5EF4-FFF2-40B4-BE49-F238E27FC236}">
                <a16:creationId xmlns:a16="http://schemas.microsoft.com/office/drawing/2014/main" id="{9F239B34-A62F-F9FD-4B0C-083BAA5A7673}"/>
              </a:ext>
            </a:extLst>
          </p:cNvPr>
          <p:cNvPicPr>
            <a:picLocks noChangeAspect="1"/>
          </p:cNvPicPr>
          <p:nvPr/>
        </p:nvPicPr>
        <p:blipFill>
          <a:blip r:embed="rId7"/>
          <a:stretch>
            <a:fillRect/>
          </a:stretch>
        </p:blipFill>
        <p:spPr>
          <a:xfrm>
            <a:off x="7226203" y="1469645"/>
            <a:ext cx="3871880" cy="2618394"/>
          </a:xfrm>
          <a:prstGeom prst="rect">
            <a:avLst/>
          </a:prstGeom>
        </p:spPr>
      </p:pic>
      <p:pic>
        <p:nvPicPr>
          <p:cNvPr id="14" name="Imagen 13">
            <a:extLst>
              <a:ext uri="{FF2B5EF4-FFF2-40B4-BE49-F238E27FC236}">
                <a16:creationId xmlns:a16="http://schemas.microsoft.com/office/drawing/2014/main" id="{A5B0FDAF-1127-479E-CF58-E858358FDD6C}"/>
              </a:ext>
            </a:extLst>
          </p:cNvPr>
          <p:cNvPicPr>
            <a:picLocks noChangeAspect="1"/>
          </p:cNvPicPr>
          <p:nvPr/>
        </p:nvPicPr>
        <p:blipFill>
          <a:blip r:embed="rId8"/>
          <a:stretch>
            <a:fillRect/>
          </a:stretch>
        </p:blipFill>
        <p:spPr>
          <a:xfrm>
            <a:off x="1064889" y="1636807"/>
            <a:ext cx="4546635" cy="3074703"/>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53458EFE-722E-0488-FFF2-9AE1243783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05DA690-AFAD-9C76-6B7B-D0769142F981}"/>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6" name="Marcador de texto 5">
            <a:extLst>
              <a:ext uri="{FF2B5EF4-FFF2-40B4-BE49-F238E27FC236}">
                <a16:creationId xmlns:a16="http://schemas.microsoft.com/office/drawing/2014/main" id="{8D88CB07-C5F5-9BB7-9F41-E171F0F0E2B9}"/>
              </a:ext>
            </a:extLst>
          </p:cNvPr>
          <p:cNvSpPr txBox="1">
            <a:spLocks noGrp="1"/>
          </p:cNvSpPr>
          <p:nvPr>
            <p:ph type="body" idx="1"/>
          </p:nvPr>
        </p:nvSpPr>
        <p:spPr>
          <a:xfrm>
            <a:off x="609600" y="381000"/>
            <a:ext cx="10972800" cy="36317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400" dirty="0">
              <a:latin typeface="Arial" panose="020B0604020202020204" pitchFamily="34" charset="0"/>
              <a:cs typeface="Arial" panose="020B0604020202020204" pitchFamily="34" charset="0"/>
            </a:endParaRPr>
          </a:p>
          <a:p>
            <a:r>
              <a:rPr lang="es-ES" sz="1400" dirty="0"/>
              <a:t>Se ha identificado un punto de operación donde el MMI funciona de forma prácticamente equivalente para ambas polarizaciones: en las dos configuraciones (</a:t>
            </a:r>
            <a:r>
              <a:rPr lang="es-ES" sz="1400" dirty="0" err="1"/>
              <a:t>deep</a:t>
            </a:r>
            <a:r>
              <a:rPr lang="es-ES" sz="1400" dirty="0"/>
              <a:t> y </a:t>
            </a:r>
            <a:r>
              <a:rPr lang="es-ES" sz="1400" dirty="0" err="1"/>
              <a:t>shallow</a:t>
            </a:r>
            <a:r>
              <a:rPr lang="es-ES" sz="1400" dirty="0"/>
              <a:t>), las curvas L_π(TE) y L_π(TM) convergen al aumentar W y se cruzan en torno a W ≈ 10 </a:t>
            </a:r>
            <a:r>
              <a:rPr lang="es-ES" sz="1400" dirty="0" err="1"/>
              <a:t>μm</a:t>
            </a:r>
            <a:r>
              <a:rPr lang="es-ES" sz="1400" dirty="0"/>
              <a:t>, con L_π ≈ 155 </a:t>
            </a:r>
            <a:r>
              <a:rPr lang="es-ES" sz="1400" dirty="0" err="1"/>
              <a:t>μm</a:t>
            </a:r>
            <a:r>
              <a:rPr lang="es-ES" sz="1400" dirty="0"/>
              <a:t> en </a:t>
            </a:r>
            <a:r>
              <a:rPr lang="es-ES" sz="1400" dirty="0" err="1"/>
              <a:t>deep</a:t>
            </a:r>
            <a:r>
              <a:rPr lang="es-ES" sz="1400" dirty="0"/>
              <a:t> y ≈ 161 </a:t>
            </a:r>
            <a:r>
              <a:rPr lang="es-ES" sz="1400" dirty="0" err="1"/>
              <a:t>μm</a:t>
            </a:r>
            <a:r>
              <a:rPr lang="es-ES" sz="1400" dirty="0"/>
              <a:t> en </a:t>
            </a:r>
            <a:r>
              <a:rPr lang="es-ES" sz="1400" dirty="0" err="1"/>
              <a:t>shallow</a:t>
            </a:r>
            <a:r>
              <a:rPr lang="es-ES" sz="1400" dirty="0"/>
              <a:t>.</a:t>
            </a:r>
          </a:p>
          <a:p>
            <a:r>
              <a:rPr lang="es-ES" sz="1400" dirty="0"/>
              <a:t>La razón física es que al ensancharse el cuerpo multimodo, la diferencia entre los índices efectivos de los modos 0 y 1 deja de estar gobernada por el confinamiento lateral —que es asimétrico para TE y TM— y pasa a estar dominada por el confinamiento vertical, idéntico para ambas polarizaciones al fijar h y los materiales. Un MMI con W ≈ 10 </a:t>
            </a:r>
            <a:r>
              <a:rPr lang="es-ES" sz="1400" dirty="0" err="1"/>
              <a:t>μm</a:t>
            </a:r>
            <a:r>
              <a:rPr lang="es-ES" sz="1400" dirty="0"/>
              <a:t> permite así obtener un acoplador prácticamente independiente de polarización, a costa de un dispositivo más largo.</a:t>
            </a:r>
          </a:p>
          <a:p>
            <a:r>
              <a:rPr lang="es-ES" sz="1400" dirty="0"/>
              <a:t>Para anchuras menores (W entre 5 y 7 </a:t>
            </a:r>
            <a:r>
              <a:rPr lang="es-ES" sz="1400" dirty="0" err="1"/>
              <a:t>μm</a:t>
            </a:r>
            <a:r>
              <a:rPr lang="es-ES" sz="1400" dirty="0"/>
              <a:t>), las curvas se separan y el MMI recupera un comportamiento birrefringente, lo que debe tenerse en cuenta en diseños donde la polarización no está controlada.</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7511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1457</TotalTime>
  <Words>3846</Words>
  <Application>Microsoft Office PowerPoint</Application>
  <PresentationFormat>Panorámica</PresentationFormat>
  <Paragraphs>276</Paragraphs>
  <Slides>28</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Presentación de PowerPoint</vt:lpstr>
      <vt:lpstr>Learning outcome #4 – Parallel uncoupled waveguides – TE0 mode Wavelength 1.55 µm, width 1.0 µm, gap to be found for uncoupled wvgs</vt:lpstr>
      <vt:lpstr>Presentación de PowerPoint</vt:lpstr>
      <vt:lpstr>Presentación de PowerPoint</vt:lpstr>
      <vt:lpstr>Learning outcome #5 – Multimode Interference (MMI) Coupler cross-section</vt:lpstr>
      <vt:lpstr>Learning outcome #6 – 6.1 2x2 Multimode Interference Coupler  Wavelength 1.55 µm, wMMI = 6.6 µm</vt:lpstr>
      <vt:lpstr>Presentación de PowerPoint</vt:lpstr>
      <vt:lpstr>Learning outcome #6.2 – 2x2 Multimode Interference Coupler - Optimization Wavelength 1.55 µm, wMMI = 6.6 µm</vt:lpstr>
      <vt:lpstr>Presentación de PowerPoint</vt:lpstr>
      <vt:lpstr>Learning outcome #6.3 – 2x2 Multimode Interference Coupler – Optimization (II) Wavelength 1.55 µm, wMMI = 6.6 µm</vt:lpstr>
      <vt:lpstr>Presentación de PowerPoint</vt:lpstr>
      <vt:lpstr>Learning outcome #7 – 1x4 Multimode Interference Coupler  Wavelength 1.55 µm, wMMI = ? µm</vt:lpstr>
      <vt:lpstr>Presentación de PowerPoint</vt:lpstr>
      <vt:lpstr>Extra #1 – Directional coupler gap dependence Wavelength 1.55 µm, width 1.0 µm, gap 0.2-2.4 µm (step 0.2 µm) </vt:lpstr>
      <vt:lpstr>Presentación de PowerPoint</vt:lpstr>
      <vt:lpstr>Extra #2 – Directional wavelength dependence Wavelengths from 1.5 to 1.7 µm, gap = 0.6 µm, width 1.0 µm  </vt:lpstr>
      <vt:lpstr>Presentación de PowerPoint</vt:lpstr>
      <vt:lpstr>Extra #3 – MMI coupler wavelength dependence Wavelengths from 1.5 to 1.7 µm, wMMI = 6.6 µm</vt:lpstr>
      <vt:lpstr>Presentación de PowerPoint</vt:lpstr>
      <vt:lpstr>Extra #4 – MMI coupler body width dependence Wavelength 1.55 µm, wMMI = 5-10 µm (steps 0.5 µm)</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Arnau Bernabeu Corbi</cp:lastModifiedBy>
  <cp:revision>15</cp:revision>
  <dcterms:created xsi:type="dcterms:W3CDTF">2025-01-27T02:46:57Z</dcterms:created>
  <dcterms:modified xsi:type="dcterms:W3CDTF">2026-05-03T14:40:17Z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